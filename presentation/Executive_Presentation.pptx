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085" autoAdjust="0"/>
  </p:normalViewPr>
  <p:slideViewPr>
    <p:cSldViewPr snapToGrid="0" snapToObjects="1">
      <p:cViewPr varScale="1">
        <p:scale>
          <a:sx n="113" d="100"/>
          <a:sy n="113" d="100"/>
        </p:scale>
        <p:origin x="43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38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Today is the final recommendation for </a:t>
            </a:r>
            <a:r>
              <a:rPr lang="en-US" dirty="0" err="1"/>
              <a:t>TrailForge’s</a:t>
            </a:r>
            <a:r>
              <a:rPr lang="en-US" dirty="0"/>
              <a:t> IT foundation for the new facility and the next two years of growth.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not a stack of previous assignments — it’s the investor version: the critical decisions, the risks, and the funding 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outcome I’m asking for at the end is approval to fund and execute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Right now we’re moving into a new building without a production-ready network, identity foundation, or a complete implementation roadmap.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we try to grow without a stable foundation, we’ll feel it first in checkout friction, security gaps, and support slowdowns.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a timing decision: fund a scalable operating foundation now, or pay more later in rework and downtime.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 is big and still growing — which means customers expect speed, stability, and trust by default.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We’re not trying to build enterprise complexity on day one. We’re building a platform that won’t collapse when growth accelerates.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investment is sized for the company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TrailForge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becoming over the next two years, not just the company today.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goals tell you what you’re funding: secure facility connectivity, hosted platforms, standardized endpoints, baseline security and monitoring, and a repeatable rollout.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controls are how we prevent ‘startup chaos’: design signoff before procurement, gate approvals before go-live, change control, and acceptance testing.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how we keep timelines and costs predictable.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strategy is SaaS first so we can move faster and avoid building a server-heavy environment that’s expensive to maintain.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Onsite infrastructure is intentionally limited to what the facility needs: network closet, firewall, switching,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printers, cameras.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gives us speed to launch plus a clean path to scale without redesign.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IT stops being overhead and becomes a growth enabler.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services let us launch faster and handle traffic spikes without major capital spend.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gives operational leverage: a small team supports more growth because identity, devices, and logging are consistent.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improves decision quality: we can actually see conversion, returns, support demand, and margin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first-year estimate is about $93K, and it’s broken into hardware, software, labor, and contingency.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point: software spend is modest; most costs are tied to initial build work and setup labor.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costs scale more gradually with headcount rather than requiring big ‘step function’ purchases.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built in, not bolted on after go-live.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We’re aligned to NIST CSF 2.0, which gives a clear lifecycle for governance and response.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are hosted, which reduces exposure because we avoid storing cardholder data directly.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investors, this is about protecting customer trust, reducing outage risk, improving audit readiness, and supporting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realistic startup risks: vendor delays, ISP activation timing, misconfiguration, and user adoption.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 reduces avoidable mistakes by ordering early, using alternates, validating internet early, and using acceptance checks for security.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Hypercare and role-based training prevent the ‘go-live and panic’ cycle.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executive level, the project is four phases: governance and requirements, design and procurement, build and validation, then go-live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points are the real management tool here: design signoff, procurement approval, security validation, and go-live readiness.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keeps the project disciplined and prevents rushing into go-live with unresolved risks.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measure success in two ways: technical readiness and business enablement.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success means connectivity is stable, onboarding is complete, workflows function end-to-end, and security controls are verified.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success means we support growth spikes, improve trust and service experience, improve visibility into operations, and scale without major rework.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ask is approval of the architecture, the budget, and the execution schedule.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plan is right-sized for a $5M company aiming for $30M: it’s scalable but not overbuilt.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risk posture and operational efficiency without putting us into a server-heavy model that creates long-term overhead.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F_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TrailForge Gear — Executive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88136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CIS599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2191695" cy="64922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Comprehensive Project Plan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TrailForge Gear, Inc.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0"/>
                </a:solidFill>
              </a:rPr>
              <a:t>Executive presentation for leadership approval and investor funding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Phillip Gross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Professor Mark Cohen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CIS599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March 16,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005840"/>
            <a:ext cx="3840480" cy="4389120"/>
          </a:xfrm>
          <a:prstGeom prst="roundRect">
            <a:avLst>
              <a:gd name="adj" fmla="val 1905"/>
            </a:avLst>
          </a:prstGeom>
          <a:solidFill>
            <a:srgbClr val="EAF2FB"/>
          </a:solidFill>
          <a:ln w="12700">
            <a:solidFill>
              <a:srgbClr val="C9D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812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TrailForge at a glance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18120" y="19202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2C74B3"/>
          </a:solidFill>
          <a:ln w="12700">
            <a:solidFill>
              <a:srgbClr val="2C7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91272" y="197510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$5M current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23774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91272" y="243230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$30M two year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28346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91272" y="288950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employees today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8120" y="32918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91272" y="334670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 employees planned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38862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Business model: DTC ecommerce outdoor gear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Facility: two story standalone building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Approach: SaaS first + right sized onsite network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TrailForge needs this project 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Business need and decision point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No production ready network, identity platform, or implementation roadmap exists for the new facility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Growth to $30M requires secure commerce, stronger support operations, and better visibility into orders, returns, and customers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fragmented or under secured setup would slow onboarding, increase downtime risk, and limit investor confidence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decision is whether to fund a scalable operating foundation now or absorb higher risk and rework later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2084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What is at risk without action?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20840" y="2148840"/>
            <a:ext cx="41148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Customer friction at checkout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Security and compliance gaps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Poor support responsiveness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Weak reporting and planning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Higher cost to scale later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 supports the investment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Ecommerce scale makes platform readiness essential</a:t>
            </a:r>
            <a:endParaRPr lang="en-US" sz="1050" dirty="0"/>
          </a:p>
        </p:txBody>
      </p:sp>
      <p:pic>
        <p:nvPicPr>
          <p:cNvPr id="4" name="Image 0" descr="/mnt/data/trailforge_growth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08735"/>
            <a:ext cx="4937760" cy="27774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32588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72200" y="1737360"/>
            <a:ext cx="49377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U.S. ecommerce sales in 2025 were estimated at $1.2337T and 16.4% of total retail sales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TrailForge does not need enterprise scale on day one, but it does need a platform that can scale without redesign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A modest first year IT investment supports a much larger revenue objective and protects the customer experience during growth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This project is sized for the business we are becoming, not just the company we are today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goals, scope, and controls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What the project will and will not 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Goals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Secure facility connectivity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Hosted commerce and business platforms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Standardized endpoints and support tools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Baseline security and monitoring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Repeatable implementation and hypercare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Controls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Design sign off before procurement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Stage gate approvals before go live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Formal change control for scope and cost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Acceptance testing and security validation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Hypercare support after launch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solution: SaaS first, right sized onsite infrastructure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Hybrid architecture for speed, security, and scale</a:t>
            </a:r>
            <a:endParaRPr lang="en-US" sz="1050" dirty="0"/>
          </a:p>
        </p:txBody>
      </p:sp>
      <p:pic>
        <p:nvPicPr>
          <p:cNvPr id="4" name="Image 0" descr="/mnt/data/trailforge_logical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41732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21040" y="1737360"/>
            <a:ext cx="31089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Hosted ecommerce, payments, support, and analytics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Onsite network closet, firewall, switching, WiFi, printers, and cameras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 identity, MFA, endpoint protection, logging, and backups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Lower complexity than a server heavy, on premises buildout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creates competitive 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Technology becomes a growth enabler, not overhead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Faster launch and scaling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Hosted services reduce implementation time and support promotional spikes without a large capital build.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6276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Better customer experience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Stable storefront, payment flows, and support operations improve trust and repeat purchase likelihood.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5478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Operational leverage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38862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Standardized devices, identity, and logging let a small team support more growth with less complexity.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38328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35478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Decision quality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38862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Shared analytics improve visibility into conversion, returns, support demand, and margin.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Rough first year project cost estimate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Hardware, software, labor, and contingency</a:t>
            </a:r>
            <a:endParaRPr lang="en-US" sz="1050" dirty="0"/>
          </a:p>
        </p:txBody>
      </p:sp>
      <p:pic>
        <p:nvPicPr>
          <p:cNvPr id="4" name="Image 0" descr="/mnt/data/trailforge_cost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8775"/>
            <a:ext cx="493776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5D"/>
                </a:solidFill>
              </a:rPr>
              <a:t>Estimated first year total: $93,333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828800"/>
            <a:ext cx="46634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Hardware and physical equipment: $28,188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Software and subscriptions, Year 1: $4,859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Labor: $51,800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Contingency reserve: $8,486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Most recurring cost scales gradually with headcount rather than in large capital jumps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compliance posture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Risk reduced through governance, standardization, and hosted payments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4864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Security program aligned to the NIST CSF 2.0 lifecycle: Govern, Identify, Protect, Detect, Respond, Recover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Hosted payment approach reduces scope by avoiding direct storage of cardholder data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Baseline controls include MFA, least privilege access, endpoint protection, centralized logging, and backups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Security is designed into the project, not added after go live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29400" y="155448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EAF2FB"/>
          </a:solidFill>
          <a:ln w="12700">
            <a:solidFill>
              <a:srgbClr val="C9D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Why investors should care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03720" y="2240280"/>
            <a:ext cx="36576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Protects customer trust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Lowers outage and breach risk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Improves audit readiness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Supports scalable operations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execution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The plan is designed to reduce avoidable startup mistakes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10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4536"/>
                </a:solidFill>
              </a:rPr>
              <a:t>Vendor or delivery delay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23360" y="1645920"/>
            <a:ext cx="7223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51960" y="181051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Early ordering, approved alternates, staged receiving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770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4536"/>
                </a:solidFill>
              </a:rPr>
              <a:t>ISP activation delay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3360" y="2606040"/>
            <a:ext cx="7223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277063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Pre move validation and temporary failover option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566160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730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4536"/>
                </a:solidFill>
              </a:rPr>
              <a:t>Security misconfiguration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360" y="3566160"/>
            <a:ext cx="7223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373075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MFA, peer review, logging, acceptance checks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526280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6908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4536"/>
                </a:solidFill>
              </a:rPr>
              <a:t>User adoption issues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23360" y="4526280"/>
            <a:ext cx="7223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469087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Quick start training, role based support, hypercare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Disciplined sequence from approval to go live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EAF2FB"/>
          </a:solidFill>
          <a:ln w="12700">
            <a:solidFill>
              <a:srgbClr val="AFC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81051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B5D"/>
                </a:solidFill>
              </a:rPr>
              <a:t>Governance + Requirements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Scope, approvals, budget, business and technical needs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64592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AFC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18688" y="181051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B5D"/>
                </a:solidFill>
              </a:rPr>
              <a:t>Design + Procurement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4612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Architecture, security, BOM, vendor ordering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64592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EAF2FB"/>
          </a:solidFill>
          <a:ln w="12700">
            <a:solidFill>
              <a:srgbClr val="AFC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04688" y="181051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B5D"/>
                </a:solidFill>
              </a:rPr>
              <a:t>Build + Validation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Configuration, installation, testing, 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AFC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0688" y="181051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B5D"/>
                </a:solidFill>
              </a:rPr>
              <a:t>Go Live + Hypercare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812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Cutover, stabilization, lessons learned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570"/>
                </a:solidFill>
              </a:rPr>
              <a:t>Control points: design sign off → procurement approval → security validation → go live readiness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will measure success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Technical readiness and business enablement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Technical success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9377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Stable Internet and LAN connectivity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Complete user onboarding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Hosted platform access and support workflows working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Backups, logging, and security controls verified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Business success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49377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Better support for growth and promotional spikes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Improved customer trust and service experience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Cleaner visibility into orders, returns, and conversion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A platform that scales without major rework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and funding request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Approve the architecture, budget, and execution schedule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98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</a:rPr>
              <a:t>Approve TrailForge’s hybrid, SaaS first technology plan and authorize execution of the first year implementation budget of approximately $93K.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971800"/>
            <a:ext cx="8595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Business fit: right sized for a $5M startup targeting $30M growth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Risk posture: governed, secure, and easier to operate than a server heavy build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Financial fit: modest first year spend relative to strategic value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Execution fit: phased controls and clear acceptance gates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References used in the comprehensive plan and presentation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3327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National Institute of Standards and Technology. (2024). The NIST Cybersecurity Framework (CSF) 2.0.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PCI Security Standards Council. (2024). PCI Data Security Standard (PCI DSS) v4.0.1.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U.S. Census Bureau. (2026). Quarterly retail e-commerce sales report, fourth quarter 2025 and full year 2025.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Internal course deliverables: Week 2 inception plan, Week 6 infrastructure design, Week 8 system implementation plan, Week 8 BOM spreadsheet.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1800</Words>
  <Application>Microsoft Office PowerPoint</Application>
  <PresentationFormat>Widescreen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TrailForge Gear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TrailForge Comprehensive Project Plan</dc:title>
  <dc:subject>Week 10 Executive Presentation</dc:subject>
  <dc:creator>OpenAI</dc:creator>
  <cp:lastModifiedBy>Gross, Phillip (MSIS)</cp:lastModifiedBy>
  <cp:revision>3</cp:revision>
  <dcterms:created xsi:type="dcterms:W3CDTF">2026-03-14T12:10:07Z</dcterms:created>
  <dcterms:modified xsi:type="dcterms:W3CDTF">2026-03-14T14:46:30Z</dcterms:modified>
</cp:coreProperties>
</file>